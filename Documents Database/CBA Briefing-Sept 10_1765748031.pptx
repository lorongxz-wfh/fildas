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66" r:id="rId3"/>
    <p:sldId id="267" r:id="rId4"/>
    <p:sldId id="262" r:id="rId5"/>
    <p:sldId id="257" r:id="rId6"/>
    <p:sldId id="272" r:id="rId7"/>
    <p:sldId id="268" r:id="rId8"/>
    <p:sldId id="269" r:id="rId9"/>
    <p:sldId id="270" r:id="rId10"/>
    <p:sldId id="271" r:id="rId11"/>
    <p:sldId id="258" r:id="rId12"/>
    <p:sldId id="260" r:id="rId13"/>
    <p:sldId id="259" r:id="rId14"/>
    <p:sldId id="263" r:id="rId15"/>
    <p:sldId id="265" r:id="rId16"/>
    <p:sldId id="26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26F140-0C52-4492-8871-C27754B2645B}" type="datetimeFigureOut">
              <a:rPr lang="en-PH" smtClean="0"/>
              <a:t>18/11/2025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B6D053-F24F-482B-9984-60D1DF98CD59}" type="slidenum">
              <a:rPr lang="en-PH" smtClean="0"/>
              <a:t>‹#›</a:t>
            </a:fld>
            <a:endParaRPr lang="en-PH"/>
          </a:p>
        </p:txBody>
      </p:sp>
    </p:spTree>
    <p:extLst>
      <p:ext uri="{BB962C8B-B14F-4D97-AF65-F5344CB8AC3E}">
        <p14:creationId xmlns:p14="http://schemas.microsoft.com/office/powerpoint/2010/main" val="436205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5BB6D053-F24F-482B-9984-60D1DF98CD59}" type="slidenum">
              <a:rPr lang="en-PH" smtClean="0"/>
              <a:t>5</a:t>
            </a:fld>
            <a:endParaRPr lang="en-PH"/>
          </a:p>
        </p:txBody>
      </p:sp>
    </p:spTree>
    <p:extLst>
      <p:ext uri="{BB962C8B-B14F-4D97-AF65-F5344CB8AC3E}">
        <p14:creationId xmlns:p14="http://schemas.microsoft.com/office/powerpoint/2010/main" val="7624339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11/18/2025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11/18/2025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11/18/2025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11/18/2025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11/18/2025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11/18/2025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11/18/2025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11/18/2025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11/18/2025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11/18/2025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11/18/2025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11/18/2025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11/18/2025</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11/18/2025</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FGD%20Questions.pptx"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1B069-E9F0-3AC7-58DC-72357D941F71}"/>
              </a:ext>
            </a:extLst>
          </p:cNvPr>
          <p:cNvSpPr>
            <a:spLocks noGrp="1"/>
          </p:cNvSpPr>
          <p:nvPr>
            <p:ph type="ctrTitle"/>
          </p:nvPr>
        </p:nvSpPr>
        <p:spPr>
          <a:xfrm>
            <a:off x="680322" y="2862301"/>
            <a:ext cx="8144134" cy="1373070"/>
          </a:xfrm>
        </p:spPr>
        <p:txBody>
          <a:bodyPr/>
          <a:lstStyle/>
          <a:p>
            <a:r>
              <a:rPr lang="en-US" sz="2800" b="1" dirty="0"/>
              <a:t>Assessment of Personal Entrepreneurial Competencies of Business Administration Students at </a:t>
            </a:r>
            <a:r>
              <a:rPr lang="en-US" sz="2800" b="1" dirty="0" err="1"/>
              <a:t>Filamer</a:t>
            </a:r>
            <a:r>
              <a:rPr lang="en-US" sz="2800" b="1" dirty="0"/>
              <a:t> Christian University, Inc.: </a:t>
            </a:r>
            <a:br>
              <a:rPr lang="en-US" sz="2800" b="1" dirty="0"/>
            </a:br>
            <a:r>
              <a:rPr lang="en-US" sz="2800" b="1" dirty="0"/>
              <a:t>A Guide in Curriculum Enhancement</a:t>
            </a:r>
            <a:endParaRPr lang="en-PH" sz="2800" dirty="0"/>
          </a:p>
        </p:txBody>
      </p:sp>
      <p:sp>
        <p:nvSpPr>
          <p:cNvPr id="3" name="Subtitle 2">
            <a:extLst>
              <a:ext uri="{FF2B5EF4-FFF2-40B4-BE49-F238E27FC236}">
                <a16:creationId xmlns:a16="http://schemas.microsoft.com/office/drawing/2014/main" id="{ABD99B2B-682C-683B-A7B8-77C879C2D7B0}"/>
              </a:ext>
            </a:extLst>
          </p:cNvPr>
          <p:cNvSpPr>
            <a:spLocks noGrp="1"/>
          </p:cNvSpPr>
          <p:nvPr>
            <p:ph type="subTitle" idx="1"/>
          </p:nvPr>
        </p:nvSpPr>
        <p:spPr>
          <a:xfrm>
            <a:off x="1600200" y="4779801"/>
            <a:ext cx="8458201" cy="1117687"/>
          </a:xfrm>
        </p:spPr>
        <p:txBody>
          <a:bodyPr>
            <a:noAutofit/>
          </a:bodyPr>
          <a:lstStyle/>
          <a:p>
            <a:pPr algn="l"/>
            <a:r>
              <a:rPr lang="en-PH" b="1" dirty="0"/>
              <a:t>Proponents:	</a:t>
            </a:r>
          </a:p>
          <a:p>
            <a:pPr algn="l"/>
            <a:r>
              <a:rPr lang="en-PH" dirty="0"/>
              <a:t>Dr. Katherine Rose L. Arciga, Dean, College of Business and Accountancy             Dr. Mercedes A. Young, Program Head, BS Entrepreneurship</a:t>
            </a:r>
          </a:p>
          <a:p>
            <a:pPr algn="l"/>
            <a:r>
              <a:rPr lang="en-PH" dirty="0"/>
              <a:t> </a:t>
            </a:r>
          </a:p>
          <a:p>
            <a:pPr algn="l"/>
            <a:endParaRPr lang="en-PH" dirty="0"/>
          </a:p>
        </p:txBody>
      </p:sp>
    </p:spTree>
    <p:extLst>
      <p:ext uri="{BB962C8B-B14F-4D97-AF65-F5344CB8AC3E}">
        <p14:creationId xmlns:p14="http://schemas.microsoft.com/office/powerpoint/2010/main" val="452745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0BF43-FD6D-F8D4-C68F-64CAA7179094}"/>
              </a:ext>
            </a:extLst>
          </p:cNvPr>
          <p:cNvSpPr>
            <a:spLocks noGrp="1"/>
          </p:cNvSpPr>
          <p:nvPr>
            <p:ph type="title"/>
          </p:nvPr>
        </p:nvSpPr>
        <p:spPr/>
        <p:txBody>
          <a:bodyPr/>
          <a:lstStyle/>
          <a:p>
            <a:r>
              <a:rPr lang="en-PH" dirty="0">
                <a:solidFill>
                  <a:srgbClr val="FFFF00"/>
                </a:solidFill>
              </a:rPr>
              <a:t>Statement of the problem</a:t>
            </a:r>
          </a:p>
        </p:txBody>
      </p:sp>
      <p:sp>
        <p:nvSpPr>
          <p:cNvPr id="3" name="Content Placeholder 2">
            <a:extLst>
              <a:ext uri="{FF2B5EF4-FFF2-40B4-BE49-F238E27FC236}">
                <a16:creationId xmlns:a16="http://schemas.microsoft.com/office/drawing/2014/main" id="{2CEFEE41-82E7-015A-0C21-BB18B19A9B90}"/>
              </a:ext>
            </a:extLst>
          </p:cNvPr>
          <p:cNvSpPr>
            <a:spLocks noGrp="1"/>
          </p:cNvSpPr>
          <p:nvPr>
            <p:ph idx="1"/>
          </p:nvPr>
        </p:nvSpPr>
        <p:spPr>
          <a:xfrm>
            <a:off x="680321" y="2336873"/>
            <a:ext cx="10963992" cy="3599316"/>
          </a:xfrm>
        </p:spPr>
        <p:txBody>
          <a:bodyPr>
            <a:normAutofit fontScale="92500" lnSpcReduction="10000"/>
          </a:bodyPr>
          <a:lstStyle/>
          <a:p>
            <a:pPr algn="just"/>
            <a:r>
              <a:rPr lang="en-US" sz="2800" dirty="0"/>
              <a:t>This study explores the Personal Entrepreneurial Competencies (PECs) of graduating BSBA students at </a:t>
            </a:r>
            <a:r>
              <a:rPr lang="en-US" sz="2800" dirty="0" err="1"/>
              <a:t>Filamer</a:t>
            </a:r>
            <a:r>
              <a:rPr lang="en-US" sz="2800" dirty="0"/>
              <a:t> Christian University, Inc. </a:t>
            </a:r>
          </a:p>
          <a:p>
            <a:pPr algn="just"/>
            <a:r>
              <a:rPr lang="en-US" sz="2800" dirty="0"/>
              <a:t>Understanding how the program cultivates entrepreneurial mindsets and skills is essential, as entrepreneurship drives innovation and economic growth. </a:t>
            </a:r>
          </a:p>
          <a:p>
            <a:pPr algn="just"/>
            <a:r>
              <a:rPr lang="en-US" sz="2800" dirty="0"/>
              <a:t>Limited empirical evidence exists on students’ current PEC levels, including strengths and areas needing development. Identifying the challenges and factors that influence these competencies will provide valuable insights to enhance the curriculum and better equip graduates for entrepreneurial success.</a:t>
            </a:r>
            <a:endParaRPr lang="en-PH" sz="2800" dirty="0"/>
          </a:p>
        </p:txBody>
      </p:sp>
    </p:spTree>
    <p:extLst>
      <p:ext uri="{BB962C8B-B14F-4D97-AF65-F5344CB8AC3E}">
        <p14:creationId xmlns:p14="http://schemas.microsoft.com/office/powerpoint/2010/main" val="4093344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42CB8-FA25-A303-C069-570425847934}"/>
              </a:ext>
            </a:extLst>
          </p:cNvPr>
          <p:cNvSpPr>
            <a:spLocks noGrp="1"/>
          </p:cNvSpPr>
          <p:nvPr>
            <p:ph type="title"/>
          </p:nvPr>
        </p:nvSpPr>
        <p:spPr/>
        <p:txBody>
          <a:bodyPr/>
          <a:lstStyle/>
          <a:p>
            <a:r>
              <a:rPr lang="en-PH" dirty="0">
                <a:solidFill>
                  <a:srgbClr val="FFFF00"/>
                </a:solidFill>
              </a:rPr>
              <a:t>Research Objectives</a:t>
            </a:r>
          </a:p>
        </p:txBody>
      </p:sp>
      <p:sp>
        <p:nvSpPr>
          <p:cNvPr id="3" name="Content Placeholder 2">
            <a:extLst>
              <a:ext uri="{FF2B5EF4-FFF2-40B4-BE49-F238E27FC236}">
                <a16:creationId xmlns:a16="http://schemas.microsoft.com/office/drawing/2014/main" id="{D114288A-F27D-F302-313B-13A216999C83}"/>
              </a:ext>
            </a:extLst>
          </p:cNvPr>
          <p:cNvSpPr>
            <a:spLocks noGrp="1"/>
          </p:cNvSpPr>
          <p:nvPr>
            <p:ph idx="1"/>
          </p:nvPr>
        </p:nvSpPr>
        <p:spPr>
          <a:xfrm>
            <a:off x="680321" y="2336873"/>
            <a:ext cx="10649667" cy="3921052"/>
          </a:xfrm>
        </p:spPr>
        <p:txBody>
          <a:bodyPr>
            <a:normAutofit lnSpcReduction="10000"/>
          </a:bodyPr>
          <a:lstStyle/>
          <a:p>
            <a:r>
              <a:rPr lang="en-PH" sz="2800" b="1" dirty="0">
                <a:solidFill>
                  <a:srgbClr val="FFFF00"/>
                </a:solidFill>
              </a:rPr>
              <a:t>Determine the overall level</a:t>
            </a:r>
            <a:r>
              <a:rPr lang="en-PH" sz="2800" dirty="0">
                <a:solidFill>
                  <a:srgbClr val="FFFF00"/>
                </a:solidFill>
              </a:rPr>
              <a:t> of PECs </a:t>
            </a:r>
            <a:r>
              <a:rPr lang="en-PH" sz="2800" dirty="0"/>
              <a:t>among graduating BSBA students of </a:t>
            </a:r>
            <a:r>
              <a:rPr lang="en-PH" sz="2800" dirty="0" err="1"/>
              <a:t>Filamer</a:t>
            </a:r>
            <a:r>
              <a:rPr lang="en-PH" sz="2800" dirty="0"/>
              <a:t> Christian University, Inc.</a:t>
            </a:r>
          </a:p>
          <a:p>
            <a:r>
              <a:rPr lang="en-PH" sz="2800" b="1" dirty="0">
                <a:solidFill>
                  <a:srgbClr val="FFFF00"/>
                </a:solidFill>
              </a:rPr>
              <a:t>Identify the most and least developed</a:t>
            </a:r>
            <a:r>
              <a:rPr lang="en-PH" sz="2800" dirty="0">
                <a:solidFill>
                  <a:srgbClr val="FFFF00"/>
                </a:solidFill>
              </a:rPr>
              <a:t> </a:t>
            </a:r>
            <a:r>
              <a:rPr lang="en-PH" sz="2800" dirty="0"/>
              <a:t>entrepreneurial competency dimensions among the students.</a:t>
            </a:r>
          </a:p>
          <a:p>
            <a:r>
              <a:rPr lang="en-PH" sz="2800" b="1" dirty="0">
                <a:solidFill>
                  <a:srgbClr val="FFFF00"/>
                </a:solidFill>
              </a:rPr>
              <a:t>Explore the challenges and enabling factors</a:t>
            </a:r>
            <a:r>
              <a:rPr lang="en-PH" sz="2800" dirty="0">
                <a:solidFill>
                  <a:srgbClr val="FFFF00"/>
                </a:solidFill>
              </a:rPr>
              <a:t> </a:t>
            </a:r>
            <a:r>
              <a:rPr lang="en-PH" sz="2800" dirty="0"/>
              <a:t>that influence the development of PECs based on qualitative insights from the students.</a:t>
            </a:r>
          </a:p>
          <a:p>
            <a:r>
              <a:rPr lang="en-PH" sz="2800" b="1" dirty="0">
                <a:solidFill>
                  <a:srgbClr val="FFFF00"/>
                </a:solidFill>
              </a:rPr>
              <a:t>Recommend curriculum and instructional enhancements</a:t>
            </a:r>
            <a:r>
              <a:rPr lang="en-PH" sz="2800" dirty="0">
                <a:solidFill>
                  <a:srgbClr val="FFFF00"/>
                </a:solidFill>
              </a:rPr>
              <a:t> </a:t>
            </a:r>
            <a:r>
              <a:rPr lang="en-PH" sz="2800" dirty="0"/>
              <a:t>based on the PEC assessment results to better cultivate entrepreneurial mindsets and skills within the BSBA program.</a:t>
            </a:r>
          </a:p>
          <a:p>
            <a:endParaRPr lang="en-PH" sz="2800" dirty="0"/>
          </a:p>
        </p:txBody>
      </p:sp>
    </p:spTree>
    <p:extLst>
      <p:ext uri="{BB962C8B-B14F-4D97-AF65-F5344CB8AC3E}">
        <p14:creationId xmlns:p14="http://schemas.microsoft.com/office/powerpoint/2010/main" val="2674832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B2470-1B28-F2C3-E17F-074D45CC5CAB}"/>
              </a:ext>
            </a:extLst>
          </p:cNvPr>
          <p:cNvSpPr>
            <a:spLocks noGrp="1"/>
          </p:cNvSpPr>
          <p:nvPr>
            <p:ph type="title"/>
          </p:nvPr>
        </p:nvSpPr>
        <p:spPr>
          <a:xfrm>
            <a:off x="359568" y="696078"/>
            <a:ext cx="10063879" cy="1080938"/>
          </a:xfrm>
        </p:spPr>
        <p:txBody>
          <a:bodyPr/>
          <a:lstStyle/>
          <a:p>
            <a:r>
              <a:rPr lang="en-PH" dirty="0">
                <a:solidFill>
                  <a:srgbClr val="FFFF00"/>
                </a:solidFill>
              </a:rPr>
              <a:t>Questions to be answered by the study:</a:t>
            </a:r>
          </a:p>
        </p:txBody>
      </p:sp>
      <p:sp>
        <p:nvSpPr>
          <p:cNvPr id="5" name="TextBox 4">
            <a:extLst>
              <a:ext uri="{FF2B5EF4-FFF2-40B4-BE49-F238E27FC236}">
                <a16:creationId xmlns:a16="http://schemas.microsoft.com/office/drawing/2014/main" id="{F5830D03-9B52-B166-DB97-EC1A6EDEE82C}"/>
              </a:ext>
            </a:extLst>
          </p:cNvPr>
          <p:cNvSpPr txBox="1"/>
          <p:nvPr/>
        </p:nvSpPr>
        <p:spPr>
          <a:xfrm>
            <a:off x="359568" y="2114550"/>
            <a:ext cx="11472863" cy="4524315"/>
          </a:xfrm>
          <a:prstGeom prst="rect">
            <a:avLst/>
          </a:prstGeom>
          <a:noFill/>
        </p:spPr>
        <p:txBody>
          <a:bodyPr wrap="square" rtlCol="0">
            <a:spAutoFit/>
          </a:bodyPr>
          <a:lstStyle/>
          <a:p>
            <a:pPr marL="457200" indent="-457200">
              <a:buFont typeface="+mj-lt"/>
              <a:buAutoNum type="arabicPeriod"/>
            </a:pPr>
            <a:r>
              <a:rPr lang="en-US" sz="2400" i="1" dirty="0"/>
              <a:t>What is the overall level of Personal Entrepreneurial Competencies (PECs) exhibited by graduating BSBA students of </a:t>
            </a:r>
            <a:r>
              <a:rPr lang="en-US" sz="2400" i="1" dirty="0" err="1"/>
              <a:t>Filamer</a:t>
            </a:r>
            <a:r>
              <a:rPr lang="en-US" sz="2400" i="1" dirty="0"/>
              <a:t> Christian University, Inc.?</a:t>
            </a:r>
            <a:endParaRPr lang="en-US" sz="2400" dirty="0"/>
          </a:p>
          <a:p>
            <a:pPr marL="457200" indent="-457200">
              <a:buFont typeface="+mj-lt"/>
              <a:buAutoNum type="arabicPeriod"/>
            </a:pPr>
            <a:r>
              <a:rPr lang="en-US" sz="2400" i="1" dirty="0"/>
              <a:t>Which specific dimensions of entrepreneurial competencies demonstrate the highest and lowest levels of development among the graduating BSBA students?</a:t>
            </a:r>
            <a:endParaRPr lang="en-US" sz="2400" dirty="0"/>
          </a:p>
          <a:p>
            <a:pPr marL="457200" indent="-457200">
              <a:buFont typeface="+mj-lt"/>
              <a:buAutoNum type="arabicPeriod"/>
            </a:pPr>
            <a:r>
              <a:rPr lang="en-US" sz="2400" i="1" dirty="0"/>
              <a:t>What key themes emerge from qualitative narratives concerning the challenges and facilitating factors that influence the development of PECs among BSBA students?</a:t>
            </a:r>
            <a:endParaRPr lang="en-US" sz="2400" dirty="0"/>
          </a:p>
          <a:p>
            <a:pPr marL="457200" indent="-457200">
              <a:buFont typeface="+mj-lt"/>
              <a:buAutoNum type="arabicPeriod"/>
            </a:pPr>
            <a:r>
              <a:rPr lang="en-US" sz="2400" i="1" dirty="0"/>
              <a:t>In what ways can the findings of the PEC assessment be utilized to inform curriculum enhancement and pedagogical strategies aimed at strengthening entrepreneurial skills and mindsets within the BSBA program?</a:t>
            </a:r>
            <a:endParaRPr lang="en-US" sz="2400" dirty="0"/>
          </a:p>
          <a:p>
            <a:endParaRPr lang="en-PH" sz="2400" dirty="0"/>
          </a:p>
        </p:txBody>
      </p:sp>
    </p:spTree>
    <p:extLst>
      <p:ext uri="{BB962C8B-B14F-4D97-AF65-F5344CB8AC3E}">
        <p14:creationId xmlns:p14="http://schemas.microsoft.com/office/powerpoint/2010/main" val="834065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B460E-C566-83F9-DEEE-A997892C131F}"/>
              </a:ext>
            </a:extLst>
          </p:cNvPr>
          <p:cNvSpPr>
            <a:spLocks noGrp="1"/>
          </p:cNvSpPr>
          <p:nvPr>
            <p:ph type="title"/>
          </p:nvPr>
        </p:nvSpPr>
        <p:spPr/>
        <p:txBody>
          <a:bodyPr/>
          <a:lstStyle/>
          <a:p>
            <a:r>
              <a:rPr lang="en-US" b="1" dirty="0">
                <a:solidFill>
                  <a:srgbClr val="FFFF00"/>
                </a:solidFill>
              </a:rPr>
              <a:t>Methodology</a:t>
            </a:r>
            <a:endParaRPr lang="en-PH" dirty="0"/>
          </a:p>
        </p:txBody>
      </p:sp>
      <p:sp>
        <p:nvSpPr>
          <p:cNvPr id="3" name="Content Placeholder 2">
            <a:extLst>
              <a:ext uri="{FF2B5EF4-FFF2-40B4-BE49-F238E27FC236}">
                <a16:creationId xmlns:a16="http://schemas.microsoft.com/office/drawing/2014/main" id="{C3F9799B-1CA3-83DF-D987-EC3BA7ADF0D3}"/>
              </a:ext>
            </a:extLst>
          </p:cNvPr>
          <p:cNvSpPr>
            <a:spLocks noGrp="1"/>
          </p:cNvSpPr>
          <p:nvPr>
            <p:ph idx="1"/>
          </p:nvPr>
        </p:nvSpPr>
        <p:spPr>
          <a:xfrm>
            <a:off x="680321" y="2100263"/>
            <a:ext cx="10663954" cy="4572000"/>
          </a:xfrm>
        </p:spPr>
        <p:txBody>
          <a:bodyPr>
            <a:normAutofit/>
          </a:bodyPr>
          <a:lstStyle/>
          <a:p>
            <a:pPr marL="0" indent="0">
              <a:buNone/>
            </a:pPr>
            <a:r>
              <a:rPr lang="en-US" sz="3200" dirty="0"/>
              <a:t>Using a mixed-methods design:</a:t>
            </a:r>
          </a:p>
          <a:p>
            <a:r>
              <a:rPr lang="en-US" sz="3200" dirty="0">
                <a:solidFill>
                  <a:srgbClr val="FFFF00"/>
                </a:solidFill>
              </a:rPr>
              <a:t>Quantitative data </a:t>
            </a:r>
            <a:r>
              <a:rPr lang="en-US" sz="3200" dirty="0"/>
              <a:t>were gathered from 67 graduating students through the PECs questionnaire developed by Management Systems International</a:t>
            </a:r>
          </a:p>
          <a:p>
            <a:r>
              <a:rPr lang="en-US" sz="3200" dirty="0">
                <a:solidFill>
                  <a:srgbClr val="FFFF00"/>
                </a:solidFill>
              </a:rPr>
              <a:t>Qualitative insights </a:t>
            </a:r>
            <a:r>
              <a:rPr lang="en-US" sz="3200" dirty="0"/>
              <a:t>were obtained from a focus group discussion (FGD) with nine participants. Data were analyzed through descriptive statistics, and thematic coding. </a:t>
            </a:r>
            <a:endParaRPr lang="en-PH" sz="3200" dirty="0"/>
          </a:p>
          <a:p>
            <a:endParaRPr lang="en-PH" sz="3200" dirty="0"/>
          </a:p>
        </p:txBody>
      </p:sp>
    </p:spTree>
    <p:extLst>
      <p:ext uri="{BB962C8B-B14F-4D97-AF65-F5344CB8AC3E}">
        <p14:creationId xmlns:p14="http://schemas.microsoft.com/office/powerpoint/2010/main" val="436953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338B6-229C-0916-542C-2F68C829DF89}"/>
              </a:ext>
            </a:extLst>
          </p:cNvPr>
          <p:cNvSpPr>
            <a:spLocks noGrp="1"/>
          </p:cNvSpPr>
          <p:nvPr>
            <p:ph type="title"/>
          </p:nvPr>
        </p:nvSpPr>
        <p:spPr/>
        <p:txBody>
          <a:bodyPr/>
          <a:lstStyle/>
          <a:p>
            <a:r>
              <a:rPr lang="en-PH" dirty="0">
                <a:solidFill>
                  <a:srgbClr val="FFFF00"/>
                </a:solidFill>
              </a:rPr>
              <a:t>Why Management Systems International?</a:t>
            </a:r>
          </a:p>
        </p:txBody>
      </p:sp>
      <p:sp>
        <p:nvSpPr>
          <p:cNvPr id="3" name="Content Placeholder 2">
            <a:extLst>
              <a:ext uri="{FF2B5EF4-FFF2-40B4-BE49-F238E27FC236}">
                <a16:creationId xmlns:a16="http://schemas.microsoft.com/office/drawing/2014/main" id="{603460DF-6509-6455-8F19-6C2D06ED5BAD}"/>
              </a:ext>
            </a:extLst>
          </p:cNvPr>
          <p:cNvSpPr>
            <a:spLocks noGrp="1"/>
          </p:cNvSpPr>
          <p:nvPr>
            <p:ph idx="1"/>
          </p:nvPr>
        </p:nvSpPr>
        <p:spPr>
          <a:xfrm>
            <a:off x="680321" y="2336873"/>
            <a:ext cx="10206754" cy="3599316"/>
          </a:xfrm>
        </p:spPr>
        <p:txBody>
          <a:bodyPr>
            <a:normAutofit lnSpcReduction="10000"/>
          </a:bodyPr>
          <a:lstStyle/>
          <a:p>
            <a:r>
              <a:rPr lang="en-PH" sz="3200" b="1" dirty="0"/>
              <a:t>Groundbreaking Research: Advanced knowledge on SMEs and entrepreneurial ecosystems.</a:t>
            </a:r>
            <a:endParaRPr lang="en-PH" sz="3200" dirty="0"/>
          </a:p>
          <a:p>
            <a:r>
              <a:rPr lang="en-PH" sz="3200" b="1" dirty="0"/>
              <a:t>Skill Development: Created tools to strengthen entrepreneurial capabilities.</a:t>
            </a:r>
            <a:endParaRPr lang="en-PH" sz="3200" dirty="0"/>
          </a:p>
          <a:p>
            <a:r>
              <a:rPr lang="en-PH" sz="3200" b="1" dirty="0"/>
              <a:t>Global Collaboration: Partnered worldwide to promote sustainable entrepreneurship.</a:t>
            </a:r>
          </a:p>
          <a:p>
            <a:pPr lvl="2">
              <a:buFont typeface="Wingdings" panose="05000000000000000000" pitchFamily="2" charset="2"/>
              <a:buChar char="Ø"/>
            </a:pPr>
            <a:r>
              <a:rPr lang="en-PH" sz="2600" b="1" dirty="0"/>
              <a:t>UP-ISSI</a:t>
            </a:r>
          </a:p>
          <a:p>
            <a:pPr lvl="2">
              <a:buFont typeface="Wingdings" panose="05000000000000000000" pitchFamily="2" charset="2"/>
              <a:buChar char="Ø"/>
            </a:pPr>
            <a:r>
              <a:rPr lang="en-PH" sz="2600" b="1" dirty="0"/>
              <a:t>DTI</a:t>
            </a:r>
            <a:endParaRPr lang="en-PH" sz="2600" dirty="0"/>
          </a:p>
          <a:p>
            <a:endParaRPr lang="en-PH" sz="3200" dirty="0"/>
          </a:p>
        </p:txBody>
      </p:sp>
    </p:spTree>
    <p:extLst>
      <p:ext uri="{BB962C8B-B14F-4D97-AF65-F5344CB8AC3E}">
        <p14:creationId xmlns:p14="http://schemas.microsoft.com/office/powerpoint/2010/main" val="3249575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74259-F107-C9D2-A83B-D9A704CDC3D8}"/>
              </a:ext>
            </a:extLst>
          </p:cNvPr>
          <p:cNvSpPr>
            <a:spLocks noGrp="1"/>
          </p:cNvSpPr>
          <p:nvPr>
            <p:ph type="title"/>
          </p:nvPr>
        </p:nvSpPr>
        <p:spPr/>
        <p:txBody>
          <a:bodyPr/>
          <a:lstStyle/>
          <a:p>
            <a:r>
              <a:rPr lang="en-PH" dirty="0">
                <a:solidFill>
                  <a:srgbClr val="FFFF00"/>
                </a:solidFill>
              </a:rPr>
              <a:t>Significance of the Study</a:t>
            </a:r>
          </a:p>
        </p:txBody>
      </p:sp>
      <p:sp>
        <p:nvSpPr>
          <p:cNvPr id="3" name="Content Placeholder 2">
            <a:extLst>
              <a:ext uri="{FF2B5EF4-FFF2-40B4-BE49-F238E27FC236}">
                <a16:creationId xmlns:a16="http://schemas.microsoft.com/office/drawing/2014/main" id="{7B28994A-F4FA-8B35-D74E-381B226855D4}"/>
              </a:ext>
            </a:extLst>
          </p:cNvPr>
          <p:cNvSpPr>
            <a:spLocks noGrp="1"/>
          </p:cNvSpPr>
          <p:nvPr>
            <p:ph idx="1"/>
          </p:nvPr>
        </p:nvSpPr>
        <p:spPr>
          <a:xfrm>
            <a:off x="271463" y="2179711"/>
            <a:ext cx="11587162" cy="3599316"/>
          </a:xfrm>
        </p:spPr>
        <p:txBody>
          <a:bodyPr>
            <a:noAutofit/>
          </a:bodyPr>
          <a:lstStyle/>
          <a:p>
            <a:r>
              <a:rPr lang="en-PH" b="1" i="1" dirty="0">
                <a:solidFill>
                  <a:srgbClr val="FFFF00"/>
                </a:solidFill>
              </a:rPr>
              <a:t>Enhances Student Competencies</a:t>
            </a:r>
            <a:r>
              <a:rPr lang="en-PH" dirty="0"/>
              <a:t>: The study identifies the strengths and areas for improvement in the entrepreneurial competencies of BSBA students at </a:t>
            </a:r>
            <a:r>
              <a:rPr lang="en-PH" dirty="0" err="1"/>
              <a:t>Filamer</a:t>
            </a:r>
            <a:r>
              <a:rPr lang="en-PH" dirty="0"/>
              <a:t> Christian University, providing a basis for targeted skill development.</a:t>
            </a:r>
          </a:p>
          <a:p>
            <a:r>
              <a:rPr lang="en-PH" b="1" i="1" dirty="0">
                <a:solidFill>
                  <a:srgbClr val="FFFF00"/>
                </a:solidFill>
              </a:rPr>
              <a:t>Informs Curriculum and Industry Alignment</a:t>
            </a:r>
            <a:r>
              <a:rPr lang="en-PH" dirty="0"/>
              <a:t>: The findings will guide curriculum adjustments that respond to industry needs and employer expectations, helping improve graduates’ employability and entrepreneurial success.</a:t>
            </a:r>
          </a:p>
          <a:p>
            <a:r>
              <a:rPr lang="en-PH" b="1" i="1" dirty="0">
                <a:solidFill>
                  <a:srgbClr val="FFFF00"/>
                </a:solidFill>
              </a:rPr>
              <a:t>Contributes to Entrepreneurial Education Research</a:t>
            </a:r>
            <a:r>
              <a:rPr lang="en-PH" dirty="0"/>
              <a:t>: By offering a structured approach to assessing entrepreneurial competencies, the study supports academic institutions in strengthening entrepreneurship education and advancing innovation-focused learning.</a:t>
            </a:r>
          </a:p>
          <a:p>
            <a:endParaRPr lang="en-PH" dirty="0"/>
          </a:p>
        </p:txBody>
      </p:sp>
    </p:spTree>
    <p:extLst>
      <p:ext uri="{BB962C8B-B14F-4D97-AF65-F5344CB8AC3E}">
        <p14:creationId xmlns:p14="http://schemas.microsoft.com/office/powerpoint/2010/main" val="4215593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E0B38-1910-C316-380E-D6FBB2E8DB34}"/>
              </a:ext>
            </a:extLst>
          </p:cNvPr>
          <p:cNvSpPr>
            <a:spLocks noGrp="1"/>
          </p:cNvSpPr>
          <p:nvPr>
            <p:ph type="title"/>
          </p:nvPr>
        </p:nvSpPr>
        <p:spPr/>
        <p:txBody>
          <a:bodyPr/>
          <a:lstStyle/>
          <a:p>
            <a:r>
              <a:rPr lang="en-PH" dirty="0">
                <a:solidFill>
                  <a:srgbClr val="FFFF00"/>
                </a:solidFill>
              </a:rPr>
              <a:t>Theoretical Frameworks and Models</a:t>
            </a:r>
          </a:p>
        </p:txBody>
      </p:sp>
      <p:sp>
        <p:nvSpPr>
          <p:cNvPr id="3" name="Content Placeholder 2">
            <a:extLst>
              <a:ext uri="{FF2B5EF4-FFF2-40B4-BE49-F238E27FC236}">
                <a16:creationId xmlns:a16="http://schemas.microsoft.com/office/drawing/2014/main" id="{55E6FAD3-BA54-CFE0-8CF4-67835BD71AA6}"/>
              </a:ext>
            </a:extLst>
          </p:cNvPr>
          <p:cNvSpPr>
            <a:spLocks noGrp="1"/>
          </p:cNvSpPr>
          <p:nvPr>
            <p:ph idx="1"/>
          </p:nvPr>
        </p:nvSpPr>
        <p:spPr>
          <a:xfrm>
            <a:off x="680321" y="2336873"/>
            <a:ext cx="10292479" cy="3599316"/>
          </a:xfrm>
        </p:spPr>
        <p:txBody>
          <a:bodyPr>
            <a:normAutofit lnSpcReduction="10000"/>
          </a:bodyPr>
          <a:lstStyle/>
          <a:p>
            <a:r>
              <a:rPr lang="en-PH" sz="2800" b="1" dirty="0"/>
              <a:t>Kuratko’s PEC Model (2006):</a:t>
            </a:r>
            <a:r>
              <a:rPr lang="en-PH" sz="2800" dirty="0"/>
              <a:t> Defines five core areas of personal entrepreneurial competencies:</a:t>
            </a:r>
            <a:br>
              <a:rPr lang="en-PH" sz="2800" dirty="0"/>
            </a:br>
            <a:r>
              <a:rPr lang="en-PH" sz="2800" i="1" dirty="0"/>
              <a:t>entrepreneurial self-awareness, entrepreneurial thinking, entrepreneurial skills, entrepreneurial attitudes, and entrepreneurial networks.</a:t>
            </a:r>
            <a:endParaRPr lang="en-PH" sz="2800" dirty="0"/>
          </a:p>
          <a:p>
            <a:r>
              <a:rPr lang="en-PH" sz="2800" b="1" dirty="0"/>
              <a:t>Entrepreneurial Competencies Framework – ECF (</a:t>
            </a:r>
            <a:r>
              <a:rPr lang="en-PH" sz="2800" b="1" dirty="0" err="1"/>
              <a:t>Lopeza</a:t>
            </a:r>
            <a:r>
              <a:rPr lang="en-PH" sz="2800" b="1" dirty="0"/>
              <a:t> et al., 2021):</a:t>
            </a:r>
            <a:r>
              <a:rPr lang="en-PH" sz="2800" dirty="0"/>
              <a:t> Identifies six critical entrepreneurial competencies: </a:t>
            </a:r>
            <a:r>
              <a:rPr lang="en-PH" sz="2800" i="1" dirty="0"/>
              <a:t>entrepreneurial mind-set, knowledge, skills, attitude, behavior, and innovation.</a:t>
            </a:r>
            <a:endParaRPr lang="en-PH" sz="2800" dirty="0"/>
          </a:p>
          <a:p>
            <a:endParaRPr lang="en-PH" sz="2800" dirty="0"/>
          </a:p>
        </p:txBody>
      </p:sp>
    </p:spTree>
    <p:extLst>
      <p:ext uri="{BB962C8B-B14F-4D97-AF65-F5344CB8AC3E}">
        <p14:creationId xmlns:p14="http://schemas.microsoft.com/office/powerpoint/2010/main" val="3427026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4FCE-4A89-B33C-A95E-68CF7B612184}"/>
              </a:ext>
            </a:extLst>
          </p:cNvPr>
          <p:cNvSpPr>
            <a:spLocks noGrp="1"/>
          </p:cNvSpPr>
          <p:nvPr>
            <p:ph type="title"/>
          </p:nvPr>
        </p:nvSpPr>
        <p:spPr/>
        <p:txBody>
          <a:bodyPr/>
          <a:lstStyle/>
          <a:p>
            <a:r>
              <a:rPr lang="en-US" dirty="0">
                <a:solidFill>
                  <a:srgbClr val="FFFF00"/>
                </a:solidFill>
              </a:rPr>
              <a:t>Assessment of Personal Entrepreneurial Competencies</a:t>
            </a:r>
            <a:endParaRPr lang="en-PH" dirty="0">
              <a:solidFill>
                <a:srgbClr val="FFFF00"/>
              </a:solidFill>
            </a:endParaRPr>
          </a:p>
        </p:txBody>
      </p:sp>
      <p:sp>
        <p:nvSpPr>
          <p:cNvPr id="3" name="Content Placeholder 2">
            <a:extLst>
              <a:ext uri="{FF2B5EF4-FFF2-40B4-BE49-F238E27FC236}">
                <a16:creationId xmlns:a16="http://schemas.microsoft.com/office/drawing/2014/main" id="{C42B7E17-F61C-46AA-9B08-6685B8BD1B0E}"/>
              </a:ext>
            </a:extLst>
          </p:cNvPr>
          <p:cNvSpPr>
            <a:spLocks noGrp="1"/>
          </p:cNvSpPr>
          <p:nvPr>
            <p:ph idx="1"/>
          </p:nvPr>
        </p:nvSpPr>
        <p:spPr>
          <a:xfrm>
            <a:off x="680321" y="2336873"/>
            <a:ext cx="10321054" cy="3599316"/>
          </a:xfrm>
        </p:spPr>
        <p:txBody>
          <a:bodyPr>
            <a:normAutofit fontScale="92500"/>
          </a:bodyPr>
          <a:lstStyle/>
          <a:p>
            <a:r>
              <a:rPr lang="en-PH" sz="3200" b="1" dirty="0"/>
              <a:t>Kapoor et al. (2022):</a:t>
            </a:r>
            <a:r>
              <a:rPr lang="en-PH" sz="3200" dirty="0"/>
              <a:t> Employed a mixed-methods approach combining surveys and interviews; emphasized the role of </a:t>
            </a:r>
            <a:r>
              <a:rPr lang="en-PH" sz="3200" i="1" dirty="0"/>
              <a:t>self-awareness, creativity,</a:t>
            </a:r>
            <a:r>
              <a:rPr lang="en-PH" sz="3200" dirty="0"/>
              <a:t> and </a:t>
            </a:r>
            <a:r>
              <a:rPr lang="en-PH" sz="3200" i="1" dirty="0"/>
              <a:t>risk-taking</a:t>
            </a:r>
            <a:r>
              <a:rPr lang="en-PH" sz="3200" dirty="0"/>
              <a:t> in entrepreneurial competency development.</a:t>
            </a:r>
          </a:p>
          <a:p>
            <a:r>
              <a:rPr lang="en-PH" sz="3200" b="1" dirty="0" err="1"/>
              <a:t>Saravani</a:t>
            </a:r>
            <a:r>
              <a:rPr lang="en-PH" sz="3200" b="1" dirty="0"/>
              <a:t> et al. (2021):</a:t>
            </a:r>
            <a:r>
              <a:rPr lang="en-PH" sz="3200" dirty="0"/>
              <a:t> Used a survey-based PEC assessment among university students; found that </a:t>
            </a:r>
            <a:r>
              <a:rPr lang="en-PH" sz="3200" i="1" dirty="0"/>
              <a:t>entrepreneurial skills, attitudes,</a:t>
            </a:r>
            <a:r>
              <a:rPr lang="en-PH" sz="3200" dirty="0"/>
              <a:t> and </a:t>
            </a:r>
            <a:r>
              <a:rPr lang="en-PH" sz="3200" i="1" dirty="0"/>
              <a:t>knowledge</a:t>
            </a:r>
            <a:r>
              <a:rPr lang="en-PH" sz="3200" dirty="0"/>
              <a:t> strongly predict entrepreneurial success.</a:t>
            </a:r>
          </a:p>
          <a:p>
            <a:endParaRPr lang="en-PH" sz="3200" dirty="0"/>
          </a:p>
        </p:txBody>
      </p:sp>
    </p:spTree>
    <p:extLst>
      <p:ext uri="{BB962C8B-B14F-4D97-AF65-F5344CB8AC3E}">
        <p14:creationId xmlns:p14="http://schemas.microsoft.com/office/powerpoint/2010/main" val="2874147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ACC5A-4F5B-7C14-AD69-DD3557F5AFD1}"/>
              </a:ext>
            </a:extLst>
          </p:cNvPr>
          <p:cNvSpPr>
            <a:spLocks noGrp="1"/>
          </p:cNvSpPr>
          <p:nvPr>
            <p:ph type="title"/>
          </p:nvPr>
        </p:nvSpPr>
        <p:spPr/>
        <p:txBody>
          <a:bodyPr/>
          <a:lstStyle/>
          <a:p>
            <a:r>
              <a:rPr lang="en-PH" dirty="0">
                <a:solidFill>
                  <a:srgbClr val="FFFF00"/>
                </a:solidFill>
              </a:rPr>
              <a:t>Entrepreneurial Education and Curriculum Development</a:t>
            </a:r>
          </a:p>
        </p:txBody>
      </p:sp>
      <p:sp>
        <p:nvSpPr>
          <p:cNvPr id="3" name="Content Placeholder 2">
            <a:extLst>
              <a:ext uri="{FF2B5EF4-FFF2-40B4-BE49-F238E27FC236}">
                <a16:creationId xmlns:a16="http://schemas.microsoft.com/office/drawing/2014/main" id="{8E481380-41F2-2E17-1760-240F04852794}"/>
              </a:ext>
            </a:extLst>
          </p:cNvPr>
          <p:cNvSpPr>
            <a:spLocks noGrp="1"/>
          </p:cNvSpPr>
          <p:nvPr>
            <p:ph idx="1"/>
          </p:nvPr>
        </p:nvSpPr>
        <p:spPr>
          <a:xfrm>
            <a:off x="680321" y="2179710"/>
            <a:ext cx="10806829" cy="4063928"/>
          </a:xfrm>
        </p:spPr>
        <p:txBody>
          <a:bodyPr>
            <a:normAutofit fontScale="92500"/>
          </a:bodyPr>
          <a:lstStyle/>
          <a:p>
            <a:r>
              <a:rPr lang="en-PH" sz="2800" b="1" dirty="0" err="1"/>
              <a:t>Kourdi</a:t>
            </a:r>
            <a:r>
              <a:rPr lang="en-PH" sz="2800" b="1" dirty="0"/>
              <a:t> et al. (2022):</a:t>
            </a:r>
            <a:r>
              <a:rPr lang="en-PH" sz="2800" dirty="0"/>
              <a:t> Demonstrated a positive correlation between </a:t>
            </a:r>
            <a:r>
              <a:rPr lang="en-PH" sz="2800" i="1" dirty="0"/>
              <a:t>entrepreneurial education</a:t>
            </a:r>
            <a:r>
              <a:rPr lang="en-PH" sz="2800" dirty="0"/>
              <a:t> and </a:t>
            </a:r>
            <a:r>
              <a:rPr lang="en-PH" sz="2800" i="1" dirty="0"/>
              <a:t>entrepreneurial skill development</a:t>
            </a:r>
            <a:r>
              <a:rPr lang="en-PH" sz="2800" dirty="0"/>
              <a:t> in university students.</a:t>
            </a:r>
          </a:p>
          <a:p>
            <a:r>
              <a:rPr lang="en-PH" sz="2800" b="1" dirty="0"/>
              <a:t>Santos et al. (2023):</a:t>
            </a:r>
            <a:r>
              <a:rPr lang="en-PH" sz="2800" dirty="0"/>
              <a:t> Proposed an entrepreneurial curriculum framework integrating </a:t>
            </a:r>
            <a:r>
              <a:rPr lang="en-PH" sz="2800" i="1" dirty="0"/>
              <a:t>experiential learning, innovation,</a:t>
            </a:r>
            <a:r>
              <a:rPr lang="en-PH" sz="2800" dirty="0"/>
              <a:t> and </a:t>
            </a:r>
            <a:r>
              <a:rPr lang="en-PH" sz="2800" i="1" dirty="0"/>
              <a:t>entrepreneurship principles</a:t>
            </a:r>
            <a:r>
              <a:rPr lang="en-PH" sz="2800" dirty="0"/>
              <a:t> to strengthen critical thinking and practical skills.</a:t>
            </a:r>
          </a:p>
          <a:p>
            <a:r>
              <a:rPr lang="en-PH" sz="2800" b="1" dirty="0"/>
              <a:t>Haskins (2023):</a:t>
            </a:r>
            <a:r>
              <a:rPr lang="en-PH" sz="2800" dirty="0"/>
              <a:t> Advocated for educational models that emphasize </a:t>
            </a:r>
            <a:r>
              <a:rPr lang="en-PH" sz="2800" i="1" dirty="0"/>
              <a:t>active engagement, collaboration,</a:t>
            </a:r>
            <a:r>
              <a:rPr lang="en-PH" sz="2800" dirty="0"/>
              <a:t> and the cultivation of an </a:t>
            </a:r>
            <a:r>
              <a:rPr lang="en-PH" sz="2800" i="1" dirty="0"/>
              <a:t>entrepreneurial mindset</a:t>
            </a:r>
            <a:r>
              <a:rPr lang="en-PH" sz="2800" dirty="0"/>
              <a:t> needed in dynamic business environments.</a:t>
            </a:r>
          </a:p>
          <a:p>
            <a:pPr marL="0" indent="0">
              <a:buNone/>
            </a:pPr>
            <a:endParaRPr lang="en-PH" sz="2800" dirty="0"/>
          </a:p>
          <a:p>
            <a:endParaRPr lang="en-PH" sz="2800" dirty="0"/>
          </a:p>
        </p:txBody>
      </p:sp>
    </p:spTree>
    <p:extLst>
      <p:ext uri="{BB962C8B-B14F-4D97-AF65-F5344CB8AC3E}">
        <p14:creationId xmlns:p14="http://schemas.microsoft.com/office/powerpoint/2010/main" val="930619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BDDCB-C595-1E73-49BC-22FC0DEE0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8CDF8C-C41E-70CB-0D98-95953F47E41B}"/>
              </a:ext>
            </a:extLst>
          </p:cNvPr>
          <p:cNvSpPr>
            <a:spLocks noGrp="1"/>
          </p:cNvSpPr>
          <p:nvPr>
            <p:ph type="title"/>
          </p:nvPr>
        </p:nvSpPr>
        <p:spPr/>
        <p:txBody>
          <a:bodyPr/>
          <a:lstStyle/>
          <a:p>
            <a:r>
              <a:rPr lang="en-US" b="1" dirty="0">
                <a:solidFill>
                  <a:srgbClr val="FFFF00"/>
                </a:solidFill>
              </a:rPr>
              <a:t>Results of the Study</a:t>
            </a:r>
            <a:endParaRPr lang="en-PH" dirty="0"/>
          </a:p>
        </p:txBody>
      </p:sp>
      <p:sp>
        <p:nvSpPr>
          <p:cNvPr id="3" name="Content Placeholder 2">
            <a:extLst>
              <a:ext uri="{FF2B5EF4-FFF2-40B4-BE49-F238E27FC236}">
                <a16:creationId xmlns:a16="http://schemas.microsoft.com/office/drawing/2014/main" id="{481EB9BA-DF30-9E68-A88C-00C60A19AAB4}"/>
              </a:ext>
            </a:extLst>
          </p:cNvPr>
          <p:cNvSpPr>
            <a:spLocks noGrp="1"/>
          </p:cNvSpPr>
          <p:nvPr>
            <p:ph idx="1"/>
          </p:nvPr>
        </p:nvSpPr>
        <p:spPr>
          <a:xfrm>
            <a:off x="680321" y="2265432"/>
            <a:ext cx="10706817" cy="4249665"/>
          </a:xfrm>
        </p:spPr>
        <p:txBody>
          <a:bodyPr>
            <a:normAutofit/>
          </a:bodyPr>
          <a:lstStyle/>
          <a:p>
            <a:r>
              <a:rPr lang="en-US" sz="2800" dirty="0"/>
              <a:t>Findings suggest that higher PEC scores are associated with experiential learning, mentorship, extracurricular involvement, and industry exposure. The FGD highlighted faculty support and curriculum relevance as critical factors in shaping entrepreneurial development.</a:t>
            </a:r>
          </a:p>
          <a:p>
            <a:r>
              <a:rPr lang="en-US" sz="2800" dirty="0"/>
              <a:t>The study emphasizes the integration of practical learning, mentorship, and industry linkages into business education. Recommendations are offered to strengthen curricular and co-curricular programs that foster entrepreneurial mindsets and skills among students. </a:t>
            </a:r>
            <a:endParaRPr lang="en-PH" sz="2800" dirty="0"/>
          </a:p>
        </p:txBody>
      </p:sp>
    </p:spTree>
    <p:extLst>
      <p:ext uri="{BB962C8B-B14F-4D97-AF65-F5344CB8AC3E}">
        <p14:creationId xmlns:p14="http://schemas.microsoft.com/office/powerpoint/2010/main" val="3195449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ED1DE-34FB-FEA9-AC0F-F65159362427}"/>
              </a:ext>
            </a:extLst>
          </p:cNvPr>
          <p:cNvSpPr>
            <a:spLocks noGrp="1"/>
          </p:cNvSpPr>
          <p:nvPr>
            <p:ph type="title"/>
          </p:nvPr>
        </p:nvSpPr>
        <p:spPr/>
        <p:txBody>
          <a:bodyPr/>
          <a:lstStyle/>
          <a:p>
            <a:r>
              <a:rPr lang="en-PH" dirty="0">
                <a:hlinkClick r:id="rId2" action="ppaction://hlinkpres?slideindex=1&amp;slidetitle="/>
              </a:rPr>
              <a:t>Link to FGD Questions and Thematic Coding</a:t>
            </a:r>
            <a:endParaRPr lang="en-PH" dirty="0"/>
          </a:p>
        </p:txBody>
      </p:sp>
    </p:spTree>
    <p:extLst>
      <p:ext uri="{BB962C8B-B14F-4D97-AF65-F5344CB8AC3E}">
        <p14:creationId xmlns:p14="http://schemas.microsoft.com/office/powerpoint/2010/main" val="1265742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85C2A-90F8-6D8F-93B0-14F970575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1D880-A35D-EFB9-5159-D5C7847BAD0F}"/>
              </a:ext>
            </a:extLst>
          </p:cNvPr>
          <p:cNvSpPr>
            <a:spLocks noGrp="1"/>
          </p:cNvSpPr>
          <p:nvPr>
            <p:ph type="title"/>
          </p:nvPr>
        </p:nvSpPr>
        <p:spPr/>
        <p:txBody>
          <a:bodyPr>
            <a:noAutofit/>
          </a:bodyPr>
          <a:lstStyle/>
          <a:p>
            <a:r>
              <a:rPr lang="en-PH" sz="2800" dirty="0">
                <a:solidFill>
                  <a:srgbClr val="FFFF00"/>
                </a:solidFill>
              </a:rPr>
              <a:t>Service Provider: Lor Frederick A. Roxas </a:t>
            </a:r>
            <a:br>
              <a:rPr lang="en-PH" sz="2800" dirty="0">
                <a:solidFill>
                  <a:srgbClr val="FFFF00"/>
                </a:solidFill>
              </a:rPr>
            </a:br>
            <a:r>
              <a:rPr lang="en-PH" sz="2800" dirty="0">
                <a:solidFill>
                  <a:srgbClr val="FFFF00"/>
                </a:solidFill>
              </a:rPr>
              <a:t>                          4</a:t>
            </a:r>
            <a:r>
              <a:rPr lang="en-PH" sz="2800" baseline="30000" dirty="0">
                <a:solidFill>
                  <a:srgbClr val="FFFF00"/>
                </a:solidFill>
              </a:rPr>
              <a:t>th</a:t>
            </a:r>
            <a:r>
              <a:rPr lang="en-PH" sz="2800" dirty="0">
                <a:solidFill>
                  <a:srgbClr val="FFFF00"/>
                </a:solidFill>
              </a:rPr>
              <a:t> year BS Computer Science </a:t>
            </a:r>
          </a:p>
        </p:txBody>
      </p:sp>
      <p:sp>
        <p:nvSpPr>
          <p:cNvPr id="3" name="Content Placeholder 2">
            <a:extLst>
              <a:ext uri="{FF2B5EF4-FFF2-40B4-BE49-F238E27FC236}">
                <a16:creationId xmlns:a16="http://schemas.microsoft.com/office/drawing/2014/main" id="{A49170C0-9930-DEF7-565F-129A46E1C221}"/>
              </a:ext>
            </a:extLst>
          </p:cNvPr>
          <p:cNvSpPr>
            <a:spLocks noGrp="1"/>
          </p:cNvSpPr>
          <p:nvPr>
            <p:ph idx="1"/>
          </p:nvPr>
        </p:nvSpPr>
        <p:spPr>
          <a:xfrm>
            <a:off x="144380" y="2165423"/>
            <a:ext cx="11903242" cy="3599316"/>
          </a:xfrm>
        </p:spPr>
        <p:txBody>
          <a:bodyPr>
            <a:noAutofit/>
          </a:bodyPr>
          <a:lstStyle/>
          <a:p>
            <a:pPr marL="0" indent="0">
              <a:buNone/>
            </a:pPr>
            <a:r>
              <a:rPr lang="en-PH" sz="2800" b="1" dirty="0"/>
              <a:t>Scope of Work and Deliverables</a:t>
            </a:r>
          </a:p>
          <a:p>
            <a:pPr marL="0" indent="0">
              <a:buNone/>
            </a:pPr>
            <a:r>
              <a:rPr lang="en-PH" b="1" dirty="0"/>
              <a:t>     A. Research Data Collation and Analysis</a:t>
            </a:r>
            <a:endParaRPr lang="en-PH" dirty="0"/>
          </a:p>
          <a:p>
            <a:pPr marL="0" lvl="0" indent="0">
              <a:buNone/>
            </a:pPr>
            <a:r>
              <a:rPr lang="en-PH" dirty="0"/>
              <a:t>         1. Data cleaning and standardization</a:t>
            </a:r>
          </a:p>
          <a:p>
            <a:pPr marL="0" lvl="0" indent="0">
              <a:buNone/>
            </a:pPr>
            <a:r>
              <a:rPr lang="en-PH" dirty="0"/>
              <a:t>         2. Review and consolidation of all raw PECs survey responses</a:t>
            </a:r>
          </a:p>
          <a:p>
            <a:pPr marL="0" lvl="0" indent="0">
              <a:buNone/>
            </a:pPr>
            <a:r>
              <a:rPr lang="en-PH" dirty="0"/>
              <a:t>         3. Correction of inconsistencies (typo errors, formatting issues, missing values)</a:t>
            </a:r>
          </a:p>
          <a:p>
            <a:pPr marL="0" lvl="0" indent="0">
              <a:buNone/>
            </a:pPr>
            <a:r>
              <a:rPr lang="en-PH" dirty="0"/>
              <a:t>         4.  Standardization of data structure, including:</a:t>
            </a:r>
          </a:p>
          <a:p>
            <a:pPr lvl="3"/>
            <a:r>
              <a:rPr lang="en-PH" sz="2200" dirty="0"/>
              <a:t>Sex-disaggregated data</a:t>
            </a:r>
          </a:p>
          <a:p>
            <a:pPr lvl="3"/>
            <a:r>
              <a:rPr lang="en-PH" sz="2200" dirty="0"/>
              <a:t>Disaggregated data by major</a:t>
            </a:r>
          </a:p>
          <a:p>
            <a:pPr lvl="3"/>
            <a:r>
              <a:rPr lang="en-PH" sz="2200" dirty="0"/>
              <a:t>PECs per cluster (Achievement, Planning, Power)</a:t>
            </a:r>
          </a:p>
          <a:p>
            <a:pPr marL="0" lvl="0" indent="0">
              <a:buNone/>
            </a:pPr>
            <a:r>
              <a:rPr lang="en-PH" dirty="0"/>
              <a:t>         </a:t>
            </a:r>
          </a:p>
        </p:txBody>
      </p:sp>
    </p:spTree>
    <p:extLst>
      <p:ext uri="{BB962C8B-B14F-4D97-AF65-F5344CB8AC3E}">
        <p14:creationId xmlns:p14="http://schemas.microsoft.com/office/powerpoint/2010/main" val="515734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7E5D1-CF89-82CB-35E8-44A2D9531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51DFE2-2410-A506-6A09-C4B6E338ECDE}"/>
              </a:ext>
            </a:extLst>
          </p:cNvPr>
          <p:cNvSpPr>
            <a:spLocks noGrp="1"/>
          </p:cNvSpPr>
          <p:nvPr>
            <p:ph type="title"/>
          </p:nvPr>
        </p:nvSpPr>
        <p:spPr>
          <a:xfrm>
            <a:off x="407605" y="921811"/>
            <a:ext cx="9613861" cy="754730"/>
          </a:xfrm>
        </p:spPr>
        <p:txBody>
          <a:bodyPr>
            <a:noAutofit/>
          </a:bodyPr>
          <a:lstStyle/>
          <a:p>
            <a:r>
              <a:rPr lang="en-PH" sz="2800" b="1" dirty="0"/>
              <a:t>Scope of Work and Deliverables</a:t>
            </a:r>
            <a:br>
              <a:rPr lang="en-PH" sz="2800" b="1" dirty="0"/>
            </a:br>
            <a:r>
              <a:rPr lang="en-PH" sz="2800" dirty="0"/>
              <a:t>(continuation)</a:t>
            </a:r>
          </a:p>
        </p:txBody>
      </p:sp>
      <p:sp>
        <p:nvSpPr>
          <p:cNvPr id="3" name="Content Placeholder 2">
            <a:extLst>
              <a:ext uri="{FF2B5EF4-FFF2-40B4-BE49-F238E27FC236}">
                <a16:creationId xmlns:a16="http://schemas.microsoft.com/office/drawing/2014/main" id="{9229084D-82E5-57AB-B236-79585A7FF2DD}"/>
              </a:ext>
            </a:extLst>
          </p:cNvPr>
          <p:cNvSpPr>
            <a:spLocks noGrp="1"/>
          </p:cNvSpPr>
          <p:nvPr>
            <p:ph idx="1"/>
          </p:nvPr>
        </p:nvSpPr>
        <p:spPr>
          <a:xfrm>
            <a:off x="561473" y="2112284"/>
            <a:ext cx="11389895" cy="3599316"/>
          </a:xfrm>
        </p:spPr>
        <p:txBody>
          <a:bodyPr>
            <a:noAutofit/>
          </a:bodyPr>
          <a:lstStyle/>
          <a:p>
            <a:pPr marL="0" lvl="0" indent="0">
              <a:buNone/>
            </a:pPr>
            <a:r>
              <a:rPr lang="en-PH" dirty="0"/>
              <a:t>    5. Automation of formulas and calculations for faster processing</a:t>
            </a:r>
          </a:p>
          <a:p>
            <a:pPr lvl="2"/>
            <a:r>
              <a:rPr lang="en-PH" sz="2400" dirty="0"/>
              <a:t>Mean scores of each competency per respondent and for the entire group. </a:t>
            </a:r>
          </a:p>
          <a:p>
            <a:pPr lvl="2"/>
            <a:r>
              <a:rPr lang="en-PH" sz="2400" dirty="0"/>
              <a:t>Descriptive statistics such as averages, frequency distributions, and standard deviations</a:t>
            </a:r>
          </a:p>
          <a:p>
            <a:pPr lvl="2"/>
            <a:r>
              <a:rPr lang="en-PH" sz="2400" dirty="0"/>
              <a:t>High-scoring and low-scoring competencies</a:t>
            </a:r>
          </a:p>
          <a:p>
            <a:pPr marL="0" lvl="0" indent="0">
              <a:buNone/>
            </a:pPr>
            <a:r>
              <a:rPr lang="en-PH" dirty="0"/>
              <a:t>    6. Tabulation of PECs descriptive levels</a:t>
            </a:r>
          </a:p>
          <a:p>
            <a:pPr marL="0" lvl="0" indent="0">
              <a:buNone/>
            </a:pPr>
            <a:r>
              <a:rPr lang="en-PH" dirty="0"/>
              <a:t>         - Tables and Graphs</a:t>
            </a:r>
          </a:p>
          <a:p>
            <a:pPr marL="0" indent="0">
              <a:buNone/>
            </a:pPr>
            <a:endParaRPr lang="en-PH" dirty="0"/>
          </a:p>
        </p:txBody>
      </p:sp>
    </p:spTree>
    <p:extLst>
      <p:ext uri="{BB962C8B-B14F-4D97-AF65-F5344CB8AC3E}">
        <p14:creationId xmlns:p14="http://schemas.microsoft.com/office/powerpoint/2010/main" val="1628403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2D2F1-9708-3214-6012-A719E09AD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A6078-1D97-6DE0-DE96-B286EA7207A1}"/>
              </a:ext>
            </a:extLst>
          </p:cNvPr>
          <p:cNvSpPr>
            <a:spLocks noGrp="1"/>
          </p:cNvSpPr>
          <p:nvPr>
            <p:ph type="title"/>
          </p:nvPr>
        </p:nvSpPr>
        <p:spPr>
          <a:xfrm>
            <a:off x="407605" y="921811"/>
            <a:ext cx="9613861" cy="754730"/>
          </a:xfrm>
        </p:spPr>
        <p:txBody>
          <a:bodyPr>
            <a:noAutofit/>
          </a:bodyPr>
          <a:lstStyle/>
          <a:p>
            <a:r>
              <a:rPr lang="en-PH" sz="2800" b="1" dirty="0"/>
              <a:t>Scope of Work and Deliverables</a:t>
            </a:r>
            <a:br>
              <a:rPr lang="en-PH" sz="2800" b="1" dirty="0"/>
            </a:br>
            <a:r>
              <a:rPr lang="en-PH" sz="2800" dirty="0"/>
              <a:t>(continuation)</a:t>
            </a:r>
          </a:p>
        </p:txBody>
      </p:sp>
      <p:sp>
        <p:nvSpPr>
          <p:cNvPr id="3" name="Content Placeholder 2">
            <a:extLst>
              <a:ext uri="{FF2B5EF4-FFF2-40B4-BE49-F238E27FC236}">
                <a16:creationId xmlns:a16="http://schemas.microsoft.com/office/drawing/2014/main" id="{42514F06-2865-FEEA-1B51-D63FCA9CF281}"/>
              </a:ext>
            </a:extLst>
          </p:cNvPr>
          <p:cNvSpPr>
            <a:spLocks noGrp="1"/>
          </p:cNvSpPr>
          <p:nvPr>
            <p:ph idx="1"/>
          </p:nvPr>
        </p:nvSpPr>
        <p:spPr>
          <a:xfrm>
            <a:off x="721895" y="2112284"/>
            <a:ext cx="11229474" cy="3599316"/>
          </a:xfrm>
        </p:spPr>
        <p:txBody>
          <a:bodyPr>
            <a:noAutofit/>
          </a:bodyPr>
          <a:lstStyle/>
          <a:p>
            <a:pPr marL="0" indent="0">
              <a:buNone/>
            </a:pPr>
            <a:r>
              <a:rPr lang="en-PH" b="1" dirty="0"/>
              <a:t>B. PECs Questionnaire Development</a:t>
            </a:r>
            <a:endParaRPr lang="en-PH" dirty="0"/>
          </a:p>
          <a:p>
            <a:pPr lvl="1"/>
            <a:r>
              <a:rPr lang="en-PH" sz="2400" dirty="0"/>
              <a:t>    Development of a reusable Excel template</a:t>
            </a:r>
          </a:p>
          <a:p>
            <a:pPr lvl="1"/>
            <a:r>
              <a:rPr lang="en-PH" sz="2400" dirty="0"/>
              <a:t>    Automated questionnaire sheet with integrated scoring formulas</a:t>
            </a:r>
          </a:p>
          <a:p>
            <a:pPr lvl="1"/>
            <a:r>
              <a:rPr lang="en-PH" sz="2400" dirty="0"/>
              <a:t>    Scoring sheet to compute PECs results (with/</a:t>
            </a:r>
            <a:r>
              <a:rPr lang="en-PH" sz="2400" dirty="0" err="1"/>
              <a:t>wout</a:t>
            </a:r>
            <a:r>
              <a:rPr lang="en-PH" sz="2400" dirty="0"/>
              <a:t> correction factors)</a:t>
            </a:r>
          </a:p>
          <a:p>
            <a:pPr lvl="1"/>
            <a:r>
              <a:rPr lang="en-PH" sz="2400" dirty="0"/>
              <a:t>    Profile sheet with visual plots of individual PEC scores</a:t>
            </a:r>
          </a:p>
          <a:p>
            <a:pPr lvl="1"/>
            <a:r>
              <a:rPr lang="en-PH" sz="2400" dirty="0"/>
              <a:t>    Fully reusable format adaptable for future data sets</a:t>
            </a:r>
          </a:p>
          <a:p>
            <a:pPr marL="0" indent="0">
              <a:buNone/>
            </a:pPr>
            <a:endParaRPr lang="en-PH" dirty="0"/>
          </a:p>
        </p:txBody>
      </p:sp>
    </p:spTree>
    <p:extLst>
      <p:ext uri="{BB962C8B-B14F-4D97-AF65-F5344CB8AC3E}">
        <p14:creationId xmlns:p14="http://schemas.microsoft.com/office/powerpoint/2010/main" val="1745125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59E62-F9A3-C791-11A7-F9BECD6E8469}"/>
              </a:ext>
            </a:extLst>
          </p:cNvPr>
          <p:cNvSpPr>
            <a:spLocks noGrp="1"/>
          </p:cNvSpPr>
          <p:nvPr>
            <p:ph type="title"/>
          </p:nvPr>
        </p:nvSpPr>
        <p:spPr/>
        <p:txBody>
          <a:bodyPr/>
          <a:lstStyle/>
          <a:p>
            <a:r>
              <a:rPr lang="en-PH" dirty="0"/>
              <a:t>Link to Excel c/o Lor</a:t>
            </a:r>
          </a:p>
        </p:txBody>
      </p:sp>
    </p:spTree>
    <p:extLst>
      <p:ext uri="{BB962C8B-B14F-4D97-AF65-F5344CB8AC3E}">
        <p14:creationId xmlns:p14="http://schemas.microsoft.com/office/powerpoint/2010/main" val="4025181109"/>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TM04033917[[fn=Berlin]]</Template>
  <TotalTime>502</TotalTime>
  <Words>1031</Words>
  <Application>Microsoft Office PowerPoint</Application>
  <PresentationFormat>Widescreen</PresentationFormat>
  <Paragraphs>73</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Trebuchet MS</vt:lpstr>
      <vt:lpstr>Wingdings</vt:lpstr>
      <vt:lpstr>Berlin</vt:lpstr>
      <vt:lpstr>Assessment of Personal Entrepreneurial Competencies of Business Administration Students at Filamer Christian University, Inc.:  A Guide in Curriculum Enhancement</vt:lpstr>
      <vt:lpstr>Statement of the problem</vt:lpstr>
      <vt:lpstr>Research Objectives</vt:lpstr>
      <vt:lpstr>Questions to be answered by the study:</vt:lpstr>
      <vt:lpstr>Methodology</vt:lpstr>
      <vt:lpstr>Why Management Systems International?</vt:lpstr>
      <vt:lpstr>Significance of the Study</vt:lpstr>
      <vt:lpstr>Theoretical Frameworks and Models</vt:lpstr>
      <vt:lpstr>Assessment of Personal Entrepreneurial Competencies</vt:lpstr>
      <vt:lpstr>Entrepreneurial Education and Curriculum Development</vt:lpstr>
      <vt:lpstr>Results of the Study</vt:lpstr>
      <vt:lpstr>Link to FGD Questions and Thematic Coding</vt:lpstr>
      <vt:lpstr>Service Provider: Lor Frederick A. Roxas                            4th year BS Computer Science </vt:lpstr>
      <vt:lpstr>Scope of Work and Deliverables (continuation)</vt:lpstr>
      <vt:lpstr>Scope of Work and Deliverables (continuation)</vt:lpstr>
      <vt:lpstr>Link to Excel c/o Lor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Mercedes Young</dc:creator>
  <cp:lastModifiedBy>Mercedes Young</cp:lastModifiedBy>
  <cp:revision>7</cp:revision>
  <dcterms:created xsi:type="dcterms:W3CDTF">2025-09-10T00:22:49Z</dcterms:created>
  <dcterms:modified xsi:type="dcterms:W3CDTF">2025-11-18T05:01:04Z</dcterms:modified>
</cp:coreProperties>
</file>